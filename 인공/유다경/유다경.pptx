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0" r:id="rId5"/>
    <p:sldId id="262" r:id="rId6"/>
    <p:sldId id="268" r:id="rId7"/>
    <p:sldId id="269" r:id="rId8"/>
    <p:sldId id="270" r:id="rId9"/>
    <p:sldId id="273" r:id="rId10"/>
    <p:sldId id="27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9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337B6-5FB4-28C3-B5EF-B302D79E3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2433CC-75FF-7B27-1C97-9FBD86409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BB2A55-747A-04F3-2755-E38A5779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C40F-8089-41D5-A7DC-0F6C05CEC434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9991B8-8C20-D4D7-8A1D-3ADB25B8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07267B-948A-8B15-1539-FA539A5C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8DB3-E7AC-4C02-A5E5-01667229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03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519E2-5329-935A-9130-B41F359BE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E879A2-C609-B2F8-9821-9146A90E2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086589-D5E9-763A-097C-94644667C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C40F-8089-41D5-A7DC-0F6C05CEC434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D142CC-1C36-F952-0613-9A48D7AF4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FD1F9D-B8B4-CD0A-EE21-A6A108FA9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8DB3-E7AC-4C02-A5E5-01667229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981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13C67-469E-F163-EF99-7128B60F3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2F8A03-D54D-302B-470A-A09A846B9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9F48C-253E-8EE8-B0BC-D75A7251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C40F-8089-41D5-A7DC-0F6C05CEC434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C9CFB5-5B5E-6149-A4B5-D1BD468E7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676C2-7F8D-96A9-6858-991772259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8DB3-E7AC-4C02-A5E5-01667229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153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1B03EB-CF69-6E53-DADD-A3A6EE0DC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1537E7-6665-724F-4178-6B0062CB1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FA7E31-46F0-38BE-CA8C-2FC5EE272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207B9F-F9B5-F0C7-2436-8667432F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C40F-8089-41D5-A7DC-0F6C05CEC434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14898F-E17A-DD37-75E3-AB43B0A98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D7DD00-8AF5-D8A1-5360-255A510F3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8DB3-E7AC-4C02-A5E5-01667229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762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D6126F-FA78-FA18-154F-F403F6F8F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671F70-56FC-B906-CDE4-F2144D166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7A345A-BEAF-B0F6-4445-341FE1368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18BA1E-0DA8-8A01-B96C-EAE413132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C5465D-AC8F-B832-DD73-B3F3192D26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1132B4B-A6D0-17C6-D59D-E8CF167FE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C40F-8089-41D5-A7DC-0F6C05CEC434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B111B6D-CE4C-33D5-57D8-31A13089C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C2B2CA-2927-0674-3E53-7A6ED98D1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8DB3-E7AC-4C02-A5E5-01667229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518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11262-3BAB-1F5B-4549-D799DE28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8F808F4-3421-37A2-B5A2-4CE8B1D60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C40F-8089-41D5-A7DC-0F6C05CEC434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B84C4D-43D8-1B18-7047-7259EEBB1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B0186D-8D81-2FD3-6F29-C30A0D84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8DB3-E7AC-4C02-A5E5-01667229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425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275418B-4827-37B9-8E6D-802329DC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C40F-8089-41D5-A7DC-0F6C05CEC434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8FD357-6A9B-8D1B-AE53-B19C6318C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0AEA6C-AF1C-F7AF-293F-A802BBEE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8DB3-E7AC-4C02-A5E5-01667229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94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787D9C-A378-1411-A1AF-ADA9C41CD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5FF442-323B-B915-2258-E938BC3B8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271BB7-19C2-45E0-6397-899CF8359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4AD02A-9E67-5D3A-200D-28DFFAC6E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C40F-8089-41D5-A7DC-0F6C05CEC434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728831-851C-E72D-4BA2-A78359A4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074D32-94ED-65ED-0521-45C3CEB19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8DB3-E7AC-4C02-A5E5-01667229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54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3E714-37FD-5409-FCB2-D30F55E79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098C55-92C3-B86C-113F-6E99597929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5C11F6-4F8F-CAA3-822B-F3A934255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6F76B5-98B6-C71D-540B-6091F295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C40F-8089-41D5-A7DC-0F6C05CEC434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0C4D22-3D79-6D00-CFB7-27C722693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3F2BA6-5177-882B-750C-2E1B810B8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8DB3-E7AC-4C02-A5E5-01667229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636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2E2D2-4AEE-65DC-CA96-DED7A8451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867B33-C5B8-7AF6-4F7C-07AA45939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09EB23-4CA8-E9AA-D6B7-1E33EC717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C40F-8089-41D5-A7DC-0F6C05CEC434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329DA-059F-336D-2D02-724926BF6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E47894-690C-DFFC-DD29-34290D63F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8DB3-E7AC-4C02-A5E5-01667229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356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03D435-4DE3-8A47-E6ED-77CF851E5C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85DC0C-89FC-B53C-72A6-B16725430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D95316-26FA-FB09-4CA7-7A630BEEF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C40F-8089-41D5-A7DC-0F6C05CEC434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4E1A32-1FF4-0BE5-3E66-0136F8D9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6737D6-5D16-E79F-B7DD-829A39103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8DB3-E7AC-4C02-A5E5-01667229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697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EC093A-0095-0E6D-C4C3-72E1E3D05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3B9C4F-8F0A-8B08-131B-E55A4F7B6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EBB6C4-7CAF-BF00-11FE-DCF4894758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5C40F-8089-41D5-A7DC-0F6C05CEC434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327B0F-4128-8436-C40F-F4E50822C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3F56F0-A1CD-16D4-5F0D-9D281492A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68DB3-E7AC-4C02-A5E5-01667229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737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71F29A-9F91-F422-3A4F-119503B4A3EC}"/>
              </a:ext>
            </a:extLst>
          </p:cNvPr>
          <p:cNvSpPr/>
          <p:nvPr/>
        </p:nvSpPr>
        <p:spPr>
          <a:xfrm>
            <a:off x="-1" y="0"/>
            <a:ext cx="627207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1045E-A576-76E5-CD87-3D22918A3646}"/>
              </a:ext>
            </a:extLst>
          </p:cNvPr>
          <p:cNvSpPr txBox="1"/>
          <p:nvPr/>
        </p:nvSpPr>
        <p:spPr>
          <a:xfrm>
            <a:off x="173115" y="355860"/>
            <a:ext cx="609895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pd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np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seaborn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sns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model_selection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GridSearchCV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preprocessing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LabelEncoder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StandardScaler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linear_model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LogisticRegression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ensemble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RandomForestClassifier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metrics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f1_score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roc_auc_score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roc_curve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classification_report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EFF66A-0D0B-61B5-F3EA-5B9DAA7B7537}"/>
              </a:ext>
            </a:extLst>
          </p:cNvPr>
          <p:cNvSpPr txBox="1"/>
          <p:nvPr/>
        </p:nvSpPr>
        <p:spPr>
          <a:xfrm>
            <a:off x="6853561" y="674703"/>
            <a:ext cx="449033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코드 입력하기 위한 기반 다지기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사용된 머신 러닝 모델을 알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0" dirty="0">
                <a:effectLst/>
                <a:latin typeface="Consolas" panose="020B0609020204030204" pitchFamily="49" charset="0"/>
              </a:rPr>
              <a:t>사용 모델 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effectLst/>
                <a:latin typeface="Consolas" panose="020B0609020204030204" pitchFamily="49" charset="0"/>
              </a:rPr>
              <a:t>Logistic Regression,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Random Forest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4E44697-C590-2256-674B-BC41419DC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188" y="2594314"/>
            <a:ext cx="5564491" cy="4596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C19DD4-C05E-353B-6A3C-A9445E6F0DA8}"/>
              </a:ext>
            </a:extLst>
          </p:cNvPr>
          <p:cNvSpPr txBox="1"/>
          <p:nvPr/>
        </p:nvSpPr>
        <p:spPr>
          <a:xfrm>
            <a:off x="6440750" y="3191636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Logistic Regression – </a:t>
            </a:r>
            <a:r>
              <a:rPr lang="ko-KR" altLang="en-US" dirty="0"/>
              <a:t>로지스틱 회귀</a:t>
            </a:r>
            <a:endParaRPr lang="en-US" altLang="ko-KR" dirty="0"/>
          </a:p>
          <a:p>
            <a:r>
              <a:rPr lang="en-US" altLang="ko-KR" dirty="0" err="1"/>
              <a:t>Radndom</a:t>
            </a:r>
            <a:r>
              <a:rPr lang="en-US" altLang="ko-KR" dirty="0"/>
              <a:t> Forest – </a:t>
            </a:r>
            <a:r>
              <a:rPr lang="ko-KR" altLang="en-US" dirty="0"/>
              <a:t>랜덤 포레스트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DCA65D-2AF8-786D-BEF5-DE228DFB1946}"/>
              </a:ext>
            </a:extLst>
          </p:cNvPr>
          <p:cNvSpPr txBox="1"/>
          <p:nvPr/>
        </p:nvSpPr>
        <p:spPr>
          <a:xfrm>
            <a:off x="10619554" y="3357702"/>
            <a:ext cx="1572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지도학습모델</a:t>
            </a:r>
          </a:p>
        </p:txBody>
      </p:sp>
      <p:sp>
        <p:nvSpPr>
          <p:cNvPr id="13" name="오른쪽 대괄호 12">
            <a:extLst>
              <a:ext uri="{FF2B5EF4-FFF2-40B4-BE49-F238E27FC236}">
                <a16:creationId xmlns:a16="http://schemas.microsoft.com/office/drawing/2014/main" id="{881B9C6F-4F42-7697-7C6C-46A294C83AA9}"/>
              </a:ext>
            </a:extLst>
          </p:cNvPr>
          <p:cNvSpPr/>
          <p:nvPr/>
        </p:nvSpPr>
        <p:spPr>
          <a:xfrm>
            <a:off x="10326235" y="3339434"/>
            <a:ext cx="293319" cy="369333"/>
          </a:xfrm>
          <a:prstGeom prst="rightBracket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248098-5F33-059A-5C3F-1BDD81E0F7CE}"/>
              </a:ext>
            </a:extLst>
          </p:cNvPr>
          <p:cNvSpPr txBox="1"/>
          <p:nvPr/>
        </p:nvSpPr>
        <p:spPr>
          <a:xfrm>
            <a:off x="11869447" y="6488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631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12AC5-F07E-D9F5-301B-CC51B5D5E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D27A5DF-78E3-42B0-D273-9C2F556EE076}"/>
              </a:ext>
            </a:extLst>
          </p:cNvPr>
          <p:cNvSpPr/>
          <p:nvPr/>
        </p:nvSpPr>
        <p:spPr>
          <a:xfrm>
            <a:off x="0" y="0"/>
            <a:ext cx="627207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695459-02E4-0BC0-7E1A-AACD4CE8139C}"/>
              </a:ext>
            </a:extLst>
          </p:cNvPr>
          <p:cNvSpPr txBox="1"/>
          <p:nvPr/>
        </p:nvSpPr>
        <p:spPr>
          <a:xfrm>
            <a:off x="173115" y="355860"/>
            <a:ext cx="60989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titanic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sns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load_dataset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"titanic"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원본 데이터 크기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titanic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titanic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.head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())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54F278-4FCD-6E32-548C-C62AB13291E8}"/>
              </a:ext>
            </a:extLst>
          </p:cNvPr>
          <p:cNvSpPr txBox="1"/>
          <p:nvPr/>
        </p:nvSpPr>
        <p:spPr>
          <a:xfrm>
            <a:off x="6853561" y="674703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데이터 불러오기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272926-16A6-0E83-4CA7-DE63D990D72F}"/>
              </a:ext>
            </a:extLst>
          </p:cNvPr>
          <p:cNvSpPr txBox="1"/>
          <p:nvPr/>
        </p:nvSpPr>
        <p:spPr>
          <a:xfrm>
            <a:off x="11869447" y="6488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2027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319E3-525D-255C-EDF6-6F1EA8DB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847F5A5-D18A-AC72-F556-5A722AC26FE7}"/>
              </a:ext>
            </a:extLst>
          </p:cNvPr>
          <p:cNvSpPr/>
          <p:nvPr/>
        </p:nvSpPr>
        <p:spPr>
          <a:xfrm>
            <a:off x="0" y="0"/>
            <a:ext cx="627207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4FDF77-40C2-2572-6080-D71549476C6E}"/>
              </a:ext>
            </a:extLst>
          </p:cNvPr>
          <p:cNvSpPr txBox="1"/>
          <p:nvPr/>
        </p:nvSpPr>
        <p:spPr>
          <a:xfrm>
            <a:off x="86557" y="1252506"/>
            <a:ext cx="609895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titanic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'survived'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pclass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'sex'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'age'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sibsp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'parch'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'fare'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'embarked'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pPr>
              <a:buNone/>
            </a:pPr>
            <a:b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'age'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'age'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].median(), </a:t>
            </a:r>
            <a:r>
              <a:rPr lang="en-US" altLang="ko-KR" b="0" dirty="0" err="1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inplace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'embarked'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'embarked'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].mode()[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b="0" dirty="0" err="1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inplace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le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LabelEncoder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'sex'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le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'sex’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'embarked'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le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'embarked'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B974BF-9121-37B4-575F-8996736584A8}"/>
              </a:ext>
            </a:extLst>
          </p:cNvPr>
          <p:cNvSpPr txBox="1"/>
          <p:nvPr/>
        </p:nvSpPr>
        <p:spPr>
          <a:xfrm>
            <a:off x="6498455" y="319596"/>
            <a:ext cx="56557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전처리를 위한 컬럼 선택</a:t>
            </a:r>
            <a:r>
              <a:rPr lang="en-US" altLang="ko-KR" dirty="0"/>
              <a:t>. </a:t>
            </a:r>
            <a:r>
              <a:rPr lang="ko-KR" altLang="en-US" dirty="0"/>
              <a:t>모델 학습에 필요한 변수를</a:t>
            </a:r>
            <a:endParaRPr lang="en-US" altLang="ko-KR" dirty="0"/>
          </a:p>
          <a:p>
            <a:r>
              <a:rPr lang="ko-KR" altLang="en-US" dirty="0"/>
              <a:t>선택한 것이 </a:t>
            </a:r>
            <a:r>
              <a:rPr lang="en-US" altLang="ko-KR" dirty="0"/>
              <a:t>[ ] </a:t>
            </a:r>
            <a:r>
              <a:rPr lang="ko-KR" altLang="en-US" dirty="0"/>
              <a:t>안에 있는 것들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선택한 이유</a:t>
            </a:r>
            <a:r>
              <a:rPr lang="en-US" altLang="ko-KR" dirty="0"/>
              <a:t>: </a:t>
            </a:r>
            <a:r>
              <a:rPr lang="ko-KR" altLang="en-US" dirty="0"/>
              <a:t>타이타닉을 보며 가장 많은 생각이 들었</a:t>
            </a:r>
            <a:endParaRPr lang="en-US" altLang="ko-KR" dirty="0"/>
          </a:p>
          <a:p>
            <a:r>
              <a:rPr lang="ko-KR" altLang="en-US" dirty="0"/>
              <a:t>던 생존과 연관성 있는 것들로 선택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+ 9</a:t>
            </a:r>
            <a:r>
              <a:rPr lang="ko-KR" altLang="en-US" dirty="0"/>
              <a:t>월 </a:t>
            </a:r>
            <a:r>
              <a:rPr lang="en-US" altLang="ko-KR" dirty="0"/>
              <a:t>3</a:t>
            </a:r>
            <a:r>
              <a:rPr lang="ko-KR" altLang="en-US" dirty="0"/>
              <a:t>일에 했던 타이타닉</a:t>
            </a:r>
            <a:r>
              <a:rPr lang="en-US" altLang="ko-KR" dirty="0"/>
              <a:t>.</a:t>
            </a:r>
            <a:r>
              <a:rPr lang="en-US" altLang="ko-KR" dirty="0" err="1"/>
              <a:t>py</a:t>
            </a:r>
            <a:r>
              <a:rPr lang="ko-KR" altLang="en-US" dirty="0"/>
              <a:t>를 참고했으며 일부만</a:t>
            </a:r>
            <a:endParaRPr lang="en-US" altLang="ko-KR" dirty="0"/>
          </a:p>
          <a:p>
            <a:r>
              <a:rPr lang="ko-KR" altLang="en-US" dirty="0"/>
              <a:t>첨부해 </a:t>
            </a:r>
            <a:r>
              <a:rPr lang="en-US" altLang="ko-KR" dirty="0"/>
              <a:t>[ ] </a:t>
            </a:r>
            <a:r>
              <a:rPr lang="ko-KR" altLang="en-US" dirty="0"/>
              <a:t>안에 넣었다</a:t>
            </a:r>
            <a:r>
              <a:rPr lang="en-US" altLang="ko-KR" dirty="0"/>
              <a:t>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511CBD-C01B-211F-6178-C0286C133452}"/>
              </a:ext>
            </a:extLst>
          </p:cNvPr>
          <p:cNvSpPr/>
          <p:nvPr/>
        </p:nvSpPr>
        <p:spPr>
          <a:xfrm>
            <a:off x="186431" y="745724"/>
            <a:ext cx="1154098" cy="4083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컬럼 선택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1F6A22-3391-B303-C77B-AB647CFD3CAC}"/>
              </a:ext>
            </a:extLst>
          </p:cNvPr>
          <p:cNvSpPr txBox="1"/>
          <p:nvPr/>
        </p:nvSpPr>
        <p:spPr>
          <a:xfrm>
            <a:off x="6498455" y="3149807"/>
            <a:ext cx="51970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fillna</a:t>
            </a:r>
            <a:r>
              <a:rPr lang="en-US" altLang="ko-KR" dirty="0"/>
              <a:t>(</a:t>
            </a:r>
            <a:r>
              <a:rPr lang="ko-KR" altLang="en-US" dirty="0"/>
              <a:t>값</a:t>
            </a:r>
            <a:r>
              <a:rPr lang="en-US" altLang="ko-KR" dirty="0"/>
              <a:t>) : </a:t>
            </a:r>
            <a:r>
              <a:rPr lang="ko-KR" altLang="en-US" dirty="0" err="1"/>
              <a:t>결측치</a:t>
            </a:r>
            <a:r>
              <a:rPr lang="en-US" altLang="ko-KR" dirty="0"/>
              <a:t>(</a:t>
            </a:r>
            <a:r>
              <a:rPr lang="en-US" altLang="ko-KR" dirty="0" err="1"/>
              <a:t>NaN</a:t>
            </a:r>
            <a:r>
              <a:rPr lang="en-US" altLang="ko-KR" dirty="0"/>
              <a:t>)</a:t>
            </a:r>
            <a:r>
              <a:rPr lang="ko-KR" altLang="en-US" dirty="0"/>
              <a:t>를 지정 값으로 채움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Age</a:t>
            </a:r>
            <a:r>
              <a:rPr lang="ko-KR" altLang="en-US" dirty="0"/>
              <a:t>는 중앙값으로 </a:t>
            </a:r>
            <a:r>
              <a:rPr lang="en-US" altLang="ko-KR" dirty="0"/>
              <a:t>embarked</a:t>
            </a:r>
            <a:r>
              <a:rPr lang="ko-KR" altLang="en-US" dirty="0"/>
              <a:t>는 </a:t>
            </a:r>
            <a:r>
              <a:rPr lang="ko-KR" altLang="en-US" dirty="0" err="1"/>
              <a:t>최빈값으로</a:t>
            </a:r>
            <a:r>
              <a:rPr lang="ko-KR" altLang="en-US" dirty="0"/>
              <a:t> 채움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58EFD39-BC9B-138C-F1EE-6CC503FB3B56}"/>
              </a:ext>
            </a:extLst>
          </p:cNvPr>
          <p:cNvSpPr/>
          <p:nvPr/>
        </p:nvSpPr>
        <p:spPr>
          <a:xfrm>
            <a:off x="186430" y="2741435"/>
            <a:ext cx="1367162" cy="4083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결측치</a:t>
            </a:r>
            <a:r>
              <a:rPr lang="ko-KR" altLang="en-US" sz="1600" dirty="0">
                <a:solidFill>
                  <a:schemeClr val="tx1"/>
                </a:solidFill>
              </a:rPr>
              <a:t> 처리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2BBE953-13D7-AE79-292C-FBD846AC3F32}"/>
              </a:ext>
            </a:extLst>
          </p:cNvPr>
          <p:cNvSpPr/>
          <p:nvPr/>
        </p:nvSpPr>
        <p:spPr>
          <a:xfrm>
            <a:off x="186430" y="4638736"/>
            <a:ext cx="2281562" cy="4083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범주형 </a:t>
            </a:r>
            <a:r>
              <a:rPr lang="en-US" altLang="ko-KR" sz="1600" dirty="0">
                <a:solidFill>
                  <a:schemeClr val="tx1"/>
                </a:solidFill>
              </a:rPr>
              <a:t>-&gt; </a:t>
            </a:r>
            <a:r>
              <a:rPr lang="ko-KR" altLang="en-US" sz="1600" dirty="0">
                <a:solidFill>
                  <a:schemeClr val="tx1"/>
                </a:solidFill>
              </a:rPr>
              <a:t>숫자형 변환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FF99D0-CD33-ECCB-AA0C-90DB1DE23032}"/>
              </a:ext>
            </a:extLst>
          </p:cNvPr>
          <p:cNvSpPr txBox="1"/>
          <p:nvPr/>
        </p:nvSpPr>
        <p:spPr>
          <a:xfrm>
            <a:off x="6498455" y="5251295"/>
            <a:ext cx="4621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성별</a:t>
            </a:r>
            <a:r>
              <a:rPr lang="en-US" altLang="ko-KR" dirty="0"/>
              <a:t>sex</a:t>
            </a:r>
            <a:r>
              <a:rPr lang="ko-KR" altLang="en-US" dirty="0"/>
              <a:t>에서 남성은 </a:t>
            </a:r>
            <a:r>
              <a:rPr lang="en-US" altLang="ko-KR" dirty="0"/>
              <a:t>=1, </a:t>
            </a:r>
            <a:r>
              <a:rPr lang="ko-KR" altLang="en-US" dirty="0"/>
              <a:t>여성은 </a:t>
            </a:r>
            <a:r>
              <a:rPr lang="en-US" altLang="ko-KR" dirty="0"/>
              <a:t>0</a:t>
            </a:r>
            <a:r>
              <a:rPr lang="ko-KR" altLang="en-US" dirty="0"/>
              <a:t>으로 변환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EEDB2A-A484-AB75-4854-AAB15FCCFDDA}"/>
              </a:ext>
            </a:extLst>
          </p:cNvPr>
          <p:cNvSpPr txBox="1"/>
          <p:nvPr/>
        </p:nvSpPr>
        <p:spPr>
          <a:xfrm>
            <a:off x="11869447" y="6488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220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44CDE-8F6E-FD9B-281A-1B4A98C11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B592C73-4BA5-8742-BBBE-55ED59A3419A}"/>
              </a:ext>
            </a:extLst>
          </p:cNvPr>
          <p:cNvSpPr/>
          <p:nvPr/>
        </p:nvSpPr>
        <p:spPr>
          <a:xfrm>
            <a:off x="0" y="0"/>
            <a:ext cx="627207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251916-4AEC-69F1-E9C5-075BEE1114FA}"/>
              </a:ext>
            </a:extLst>
          </p:cNvPr>
          <p:cNvSpPr txBox="1"/>
          <p:nvPr/>
        </p:nvSpPr>
        <p:spPr>
          <a:xfrm>
            <a:off x="86557" y="178308"/>
            <a:ext cx="618551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'survived'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'survived’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stratify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scaler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StandardScaler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X_train_scaled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scaler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X_test_scaled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scaler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BE2968-4620-D498-80DE-DEA23EC8B9B5}"/>
              </a:ext>
            </a:extLst>
          </p:cNvPr>
          <p:cNvSpPr txBox="1"/>
          <p:nvPr/>
        </p:nvSpPr>
        <p:spPr>
          <a:xfrm>
            <a:off x="6355112" y="5227182"/>
            <a:ext cx="54312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StandardScaler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: </a:t>
            </a:r>
            <a:r>
              <a:rPr lang="ko-KR" altLang="en-US" dirty="0"/>
              <a:t>가중치 학습 안정화 용 및 최적 수렴 가속화 용</a:t>
            </a:r>
            <a:r>
              <a:rPr lang="en-US" altLang="ko-KR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로지스틱 회귀가 입력 값 단위에 민감해서 필요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B6FD55-79CC-7DCF-8C09-39F35A078851}"/>
              </a:ext>
            </a:extLst>
          </p:cNvPr>
          <p:cNvSpPr txBox="1"/>
          <p:nvPr/>
        </p:nvSpPr>
        <p:spPr>
          <a:xfrm>
            <a:off x="11869447" y="6488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6C5896-018F-5915-D069-80B06A31C904}"/>
              </a:ext>
            </a:extLst>
          </p:cNvPr>
          <p:cNvSpPr/>
          <p:nvPr/>
        </p:nvSpPr>
        <p:spPr>
          <a:xfrm>
            <a:off x="86557" y="557555"/>
            <a:ext cx="2760956" cy="4083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독립변수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종속변수 분리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C51C240-015A-2AC1-2C5B-67D1A4D6CB52}"/>
              </a:ext>
            </a:extLst>
          </p:cNvPr>
          <p:cNvSpPr/>
          <p:nvPr/>
        </p:nvSpPr>
        <p:spPr>
          <a:xfrm>
            <a:off x="86557" y="2213240"/>
            <a:ext cx="1431525" cy="4083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데이터 분리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55004B-C27D-C937-B001-3C31CC7254A7}"/>
              </a:ext>
            </a:extLst>
          </p:cNvPr>
          <p:cNvSpPr/>
          <p:nvPr/>
        </p:nvSpPr>
        <p:spPr>
          <a:xfrm>
            <a:off x="86557" y="4907612"/>
            <a:ext cx="3002872" cy="4083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스케일링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 err="1">
                <a:solidFill>
                  <a:schemeClr val="tx1"/>
                </a:solidFill>
              </a:rPr>
              <a:t>로지스틱회귀용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345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E19B1-FDE7-33D0-C6ED-9A3EC934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250AAAD-809A-1493-FF1E-0329E44E7E4B}"/>
              </a:ext>
            </a:extLst>
          </p:cNvPr>
          <p:cNvSpPr/>
          <p:nvPr/>
        </p:nvSpPr>
        <p:spPr>
          <a:xfrm>
            <a:off x="0" y="0"/>
            <a:ext cx="627207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DD2C57-732E-6A0E-A861-B5D84E70745D}"/>
              </a:ext>
            </a:extLst>
          </p:cNvPr>
          <p:cNvSpPr txBox="1"/>
          <p:nvPr/>
        </p:nvSpPr>
        <p:spPr>
          <a:xfrm>
            <a:off x="169597" y="1350161"/>
            <a:ext cx="61855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sns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countplot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'survived'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"Survivors vs Deaths Distribution"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sns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barplot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pclass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'survived'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"Survival rate by </a:t>
            </a:r>
            <a:r>
              <a:rPr lang="en-US" altLang="ko-KR" b="0" dirty="0" err="1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Pclass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9FFE94-20CF-42F0-2C2A-DA1AEFF5F58F}"/>
              </a:ext>
            </a:extLst>
          </p:cNvPr>
          <p:cNvSpPr txBox="1"/>
          <p:nvPr/>
        </p:nvSpPr>
        <p:spPr>
          <a:xfrm>
            <a:off x="6438152" y="178308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간단한 시각화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10B706-06CE-1124-591D-C032B8F7BDC6}"/>
              </a:ext>
            </a:extLst>
          </p:cNvPr>
          <p:cNvSpPr txBox="1"/>
          <p:nvPr/>
        </p:nvSpPr>
        <p:spPr>
          <a:xfrm>
            <a:off x="11869447" y="6488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59F636-166E-6C41-3A9D-47ECBEAC4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541" y="569366"/>
            <a:ext cx="4558488" cy="30389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E03541D-1518-CD49-A1C5-A544B4015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803" y="3732650"/>
            <a:ext cx="4573914" cy="303899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2503409-33D4-F859-676E-48029ACFA20F}"/>
              </a:ext>
            </a:extLst>
          </p:cNvPr>
          <p:cNvSpPr/>
          <p:nvPr/>
        </p:nvSpPr>
        <p:spPr>
          <a:xfrm>
            <a:off x="9537131" y="311912"/>
            <a:ext cx="2487968" cy="4083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생존자 </a:t>
            </a:r>
            <a:r>
              <a:rPr lang="en-US" altLang="ko-KR" dirty="0">
                <a:solidFill>
                  <a:schemeClr val="tx1"/>
                </a:solidFill>
              </a:rPr>
              <a:t>vs </a:t>
            </a:r>
            <a:r>
              <a:rPr lang="ko-KR" altLang="en-US" dirty="0">
                <a:solidFill>
                  <a:schemeClr val="tx1"/>
                </a:solidFill>
              </a:rPr>
              <a:t>사망자 분포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9F61D0A-BFA5-C711-B1AB-7CA6BC9B5348}"/>
              </a:ext>
            </a:extLst>
          </p:cNvPr>
          <p:cNvSpPr/>
          <p:nvPr/>
        </p:nvSpPr>
        <p:spPr>
          <a:xfrm>
            <a:off x="9537131" y="3453001"/>
            <a:ext cx="2487968" cy="4083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solidFill>
                  <a:schemeClr val="tx1"/>
                </a:solidFill>
              </a:rPr>
              <a:t>Pclass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별 </a:t>
            </a:r>
            <a:r>
              <a:rPr lang="ko-KR" altLang="en-US" dirty="0" err="1">
                <a:solidFill>
                  <a:schemeClr val="tx1"/>
                </a:solidFill>
              </a:rPr>
              <a:t>생존률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064D85-D391-2632-0F22-9DF22ECC4CB3}"/>
              </a:ext>
            </a:extLst>
          </p:cNvPr>
          <p:cNvSpPr txBox="1"/>
          <p:nvPr/>
        </p:nvSpPr>
        <p:spPr>
          <a:xfrm>
            <a:off x="9266068" y="4072359"/>
            <a:ext cx="28563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/>
              <a:t>pclass</a:t>
            </a:r>
            <a:r>
              <a:rPr lang="ko-KR" altLang="en-US" sz="1100" dirty="0"/>
              <a:t> 그룹 </a:t>
            </a:r>
            <a:r>
              <a:rPr lang="ko-KR" altLang="en-US" sz="1100" dirty="0" err="1"/>
              <a:t>생존률</a:t>
            </a:r>
            <a:r>
              <a:rPr lang="ko-KR" altLang="en-US" sz="1100" dirty="0"/>
              <a:t> 평균</a:t>
            </a:r>
          </a:p>
          <a:p>
            <a:r>
              <a:rPr lang="ko-KR" altLang="en-US" sz="1100" dirty="0"/>
              <a:t>통계적 불확실성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7940929-CF79-3EDC-CB69-837561BB0670}"/>
              </a:ext>
            </a:extLst>
          </p:cNvPr>
          <p:cNvCxnSpPr>
            <a:cxnSpLocks/>
          </p:cNvCxnSpPr>
          <p:nvPr/>
        </p:nvCxnSpPr>
        <p:spPr>
          <a:xfrm flipV="1">
            <a:off x="8309499" y="4172505"/>
            <a:ext cx="1038687" cy="330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166C5D3-3A10-498F-2AA5-A636041443B2}"/>
              </a:ext>
            </a:extLst>
          </p:cNvPr>
          <p:cNvCxnSpPr/>
          <p:nvPr/>
        </p:nvCxnSpPr>
        <p:spPr>
          <a:xfrm flipV="1">
            <a:off x="9117367" y="4429957"/>
            <a:ext cx="230819" cy="275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437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3E9D9-2FA2-FB60-0E7B-FB49C3B33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DAF7CB5-4DAE-74D5-B2A7-3DF0E723BA8E}"/>
              </a:ext>
            </a:extLst>
          </p:cNvPr>
          <p:cNvSpPr/>
          <p:nvPr/>
        </p:nvSpPr>
        <p:spPr>
          <a:xfrm>
            <a:off x="0" y="0"/>
            <a:ext cx="627207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4003FA-BD21-380D-FA8B-C5CB6512B2D9}"/>
              </a:ext>
            </a:extLst>
          </p:cNvPr>
          <p:cNvSpPr txBox="1"/>
          <p:nvPr/>
        </p:nvSpPr>
        <p:spPr>
          <a:xfrm>
            <a:off x="252636" y="1443841"/>
            <a:ext cx="618551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log_params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'solver'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liblinear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'saga'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log_reg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GridSearchCV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LogisticRegression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max_iter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),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param_grid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log_params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scoring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'accuracy'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n_jobs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=-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log_reg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X_train_scaled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"Logistic Best Params:"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log_reg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best_params</a:t>
            </a:r>
            <a:r>
              <a:rPr lang="en-US" altLang="ko-KR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43F895-9E2F-723D-9E46-BEF7086C7D06}"/>
              </a:ext>
            </a:extLst>
          </p:cNvPr>
          <p:cNvSpPr txBox="1"/>
          <p:nvPr/>
        </p:nvSpPr>
        <p:spPr>
          <a:xfrm>
            <a:off x="6272073" y="85532"/>
            <a:ext cx="550121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모델 학습 </a:t>
            </a:r>
            <a:r>
              <a:rPr lang="en-US" altLang="ko-KR" dirty="0"/>
              <a:t>+ </a:t>
            </a:r>
            <a:r>
              <a:rPr lang="en-US" altLang="ko-KR" dirty="0" err="1"/>
              <a:t>GridSearch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Logistic Regression </a:t>
            </a:r>
            <a:r>
              <a:rPr lang="ko-KR" altLang="en-US" dirty="0"/>
              <a:t>모델 학습 코드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cv=5</a:t>
            </a:r>
          </a:p>
          <a:p>
            <a:r>
              <a:rPr lang="en-US" altLang="ko-KR" dirty="0"/>
              <a:t>- C</a:t>
            </a:r>
            <a:r>
              <a:rPr lang="ko-KR" altLang="en-US" dirty="0"/>
              <a:t>와 </a:t>
            </a:r>
            <a:r>
              <a:rPr lang="en-US" altLang="ko-KR" dirty="0"/>
              <a:t>solver </a:t>
            </a:r>
            <a:r>
              <a:rPr lang="ko-KR" altLang="en-US" dirty="0"/>
              <a:t>이용해서 최적 성능을 찾는다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0" dirty="0">
                <a:effectLst/>
                <a:latin typeface="Consolas" panose="020B0609020204030204" pitchFamily="49" charset="0"/>
              </a:rPr>
              <a:t>scoring='accuracy’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모델 성능 기준은 정확도 </a:t>
            </a:r>
            <a:r>
              <a:rPr lang="en-US" altLang="ko-KR" dirty="0"/>
              <a:t>accuracy</a:t>
            </a:r>
            <a:r>
              <a:rPr lang="ko-KR" altLang="en-US" dirty="0"/>
              <a:t>로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b="0" dirty="0" err="1">
                <a:effectLst/>
                <a:latin typeface="Consolas" panose="020B0609020204030204" pitchFamily="49" charset="0"/>
              </a:rPr>
              <a:t>log_reg.best_params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_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- </a:t>
            </a:r>
            <a:r>
              <a:rPr lang="ko-KR" altLang="en-US" dirty="0">
                <a:latin typeface="Consolas" panose="020B0609020204030204" pitchFamily="49" charset="0"/>
              </a:rPr>
              <a:t>가장 성능 좋은 조합 출력 코드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4C8B5-C19B-2A36-4FCE-3C235E7AA5CB}"/>
              </a:ext>
            </a:extLst>
          </p:cNvPr>
          <p:cNvSpPr txBox="1"/>
          <p:nvPr/>
        </p:nvSpPr>
        <p:spPr>
          <a:xfrm>
            <a:off x="11869447" y="6488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333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8729C-D52D-99C0-19B3-85DE9D9ED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877FB7F-BBA6-8CCD-BA43-B063A02D8C58}"/>
              </a:ext>
            </a:extLst>
          </p:cNvPr>
          <p:cNvSpPr/>
          <p:nvPr/>
        </p:nvSpPr>
        <p:spPr>
          <a:xfrm>
            <a:off x="0" y="0"/>
            <a:ext cx="627207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4188E6-472F-E28F-60B9-C8F6DDE3129B}"/>
              </a:ext>
            </a:extLst>
          </p:cNvPr>
          <p:cNvSpPr txBox="1"/>
          <p:nvPr/>
        </p:nvSpPr>
        <p:spPr>
          <a:xfrm>
            <a:off x="252636" y="1443841"/>
            <a:ext cx="618551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rf_params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n_estimators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max_depth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min_samples_split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altLang="ko-KR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rf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GridSearchCV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RandomForestClassifier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),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param_grid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rf_params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scoring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'accuracy'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n_jobs</a:t>
            </a:r>
            <a:r>
              <a:rPr lang="en-US" altLang="ko-KR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=-</a:t>
            </a:r>
            <a:r>
              <a:rPr lang="en-US" altLang="ko-KR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rf</a:t>
            </a:r>
            <a:r>
              <a:rPr lang="en-US" altLang="ko-KR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"RF Best Params:"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rf</a:t>
            </a:r>
            <a:r>
              <a:rPr lang="en-US" altLang="ko-KR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best_params</a:t>
            </a:r>
            <a:r>
              <a:rPr lang="en-US" altLang="ko-KR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D7C4B-E287-5F6A-FA83-08B19693EDD8}"/>
              </a:ext>
            </a:extLst>
          </p:cNvPr>
          <p:cNvSpPr txBox="1"/>
          <p:nvPr/>
        </p:nvSpPr>
        <p:spPr>
          <a:xfrm>
            <a:off x="6272072" y="85532"/>
            <a:ext cx="600574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모델 학습 </a:t>
            </a:r>
            <a:r>
              <a:rPr lang="en-US" altLang="ko-KR" dirty="0"/>
              <a:t>+ </a:t>
            </a:r>
            <a:r>
              <a:rPr lang="en-US" altLang="ko-KR" dirty="0" err="1"/>
              <a:t>GridSearch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Random Forest </a:t>
            </a:r>
            <a:r>
              <a:rPr lang="ko-KR" altLang="en-US" dirty="0"/>
              <a:t>모델 학습 코드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0" dirty="0"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effectLst/>
                <a:latin typeface="Consolas" panose="020B0609020204030204" pitchFamily="49" charset="0"/>
              </a:rPr>
              <a:t>n_estimators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’ 	: </a:t>
            </a:r>
            <a:r>
              <a:rPr lang="ko-KR" altLang="en-US" b="0" dirty="0">
                <a:effectLst/>
                <a:latin typeface="Consolas" panose="020B0609020204030204" pitchFamily="49" charset="0"/>
              </a:rPr>
              <a:t>트리개수</a:t>
            </a:r>
            <a:endParaRPr lang="en-US" altLang="ko-KR" b="0" dirty="0">
              <a:effectLst/>
              <a:latin typeface="Consolas" panose="020B0609020204030204" pitchFamily="49" charset="0"/>
            </a:endParaRPr>
          </a:p>
          <a:p>
            <a:r>
              <a:rPr lang="en-US" altLang="ko-KR" dirty="0">
                <a:latin typeface="Consolas" panose="020B0609020204030204" pitchFamily="49" charset="0"/>
              </a:rPr>
              <a:t>‘</a:t>
            </a:r>
            <a:r>
              <a:rPr lang="ko-KR" altLang="ko-KR" dirty="0" err="1">
                <a:latin typeface="Consolas" panose="020B0609020204030204" pitchFamily="49" charset="0"/>
              </a:rPr>
              <a:t>max_depth</a:t>
            </a:r>
            <a:r>
              <a:rPr lang="en-US" altLang="ko-KR" dirty="0">
                <a:latin typeface="Consolas" panose="020B0609020204030204" pitchFamily="49" charset="0"/>
              </a:rPr>
              <a:t>’		: </a:t>
            </a:r>
            <a:r>
              <a:rPr lang="ko-KR" altLang="en-US" dirty="0">
                <a:latin typeface="Consolas" panose="020B0609020204030204" pitchFamily="49" charset="0"/>
              </a:rPr>
              <a:t>트리 최대 깊이</a:t>
            </a:r>
            <a:endParaRPr lang="en-US" altLang="ko-KR" dirty="0">
              <a:latin typeface="Consolas" panose="020B0609020204030204" pitchFamily="49" charset="0"/>
            </a:endParaRPr>
          </a:p>
          <a:p>
            <a:r>
              <a:rPr lang="en-US" altLang="ko-KR" dirty="0">
                <a:latin typeface="Consolas" panose="020B0609020204030204" pitchFamily="49" charset="0"/>
              </a:rPr>
              <a:t>‘</a:t>
            </a:r>
            <a:r>
              <a:rPr lang="ko-KR" altLang="ko-KR" dirty="0" err="1">
                <a:latin typeface="Consolas" panose="020B0609020204030204" pitchFamily="49" charset="0"/>
              </a:rPr>
              <a:t>min_samples_split</a:t>
            </a:r>
            <a:r>
              <a:rPr lang="en-US" altLang="ko-KR" dirty="0">
                <a:latin typeface="Consolas" panose="020B0609020204030204" pitchFamily="49" charset="0"/>
              </a:rPr>
              <a:t>’	: </a:t>
            </a:r>
            <a:r>
              <a:rPr lang="ko-KR" altLang="en-US" dirty="0">
                <a:latin typeface="Consolas" panose="020B0609020204030204" pitchFamily="49" charset="0"/>
              </a:rPr>
              <a:t>노드 분할용 최소 샘플 수</a:t>
            </a:r>
            <a:endParaRPr lang="en-US" altLang="ko-KR" dirty="0">
              <a:latin typeface="Consolas" panose="020B0609020204030204" pitchFamily="49" charset="0"/>
            </a:endParaRPr>
          </a:p>
          <a:p>
            <a:endParaRPr lang="en-US" altLang="ko-KR" dirty="0">
              <a:latin typeface="Consolas" panose="020B0609020204030204" pitchFamily="49" charset="0"/>
            </a:endParaRPr>
          </a:p>
          <a:p>
            <a:r>
              <a:rPr lang="en-US" altLang="ko-KR" dirty="0"/>
              <a:t>cv=5</a:t>
            </a:r>
          </a:p>
          <a:p>
            <a:r>
              <a:rPr lang="en-US" altLang="ko-KR" dirty="0"/>
              <a:t>- C</a:t>
            </a:r>
            <a:r>
              <a:rPr lang="ko-KR" altLang="en-US" dirty="0"/>
              <a:t>와 </a:t>
            </a:r>
            <a:r>
              <a:rPr lang="en-US" altLang="ko-KR" dirty="0"/>
              <a:t>solver </a:t>
            </a:r>
            <a:r>
              <a:rPr lang="ko-KR" altLang="en-US" dirty="0"/>
              <a:t>이용해서 최적 성능을 찾는다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0" dirty="0">
                <a:effectLst/>
                <a:latin typeface="Consolas" panose="020B0609020204030204" pitchFamily="49" charset="0"/>
              </a:rPr>
              <a:t>scoring='accuracy’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모델 성능 기준은 정확도 </a:t>
            </a:r>
            <a:r>
              <a:rPr lang="en-US" altLang="ko-KR" dirty="0"/>
              <a:t>accuracy</a:t>
            </a:r>
            <a:r>
              <a:rPr lang="ko-KR" altLang="en-US" dirty="0"/>
              <a:t>로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b="0" dirty="0" err="1">
                <a:effectLst/>
                <a:latin typeface="Consolas" panose="020B0609020204030204" pitchFamily="49" charset="0"/>
              </a:rPr>
              <a:t>Rf.best_</a:t>
            </a:r>
            <a:r>
              <a:rPr lang="en-US" altLang="ko-KR" dirty="0" err="1">
                <a:latin typeface="Consolas" panose="020B0609020204030204" pitchFamily="49" charset="0"/>
              </a:rPr>
              <a:t>params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_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Consolas" panose="020B0609020204030204" pitchFamily="49" charset="0"/>
              </a:rPr>
              <a:t>가장 성능 좋은 조합 출력 코드</a:t>
            </a:r>
            <a:endParaRPr lang="en-US" altLang="ko-KR" dirty="0"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endParaRPr lang="en-US" altLang="ko-KR" dirty="0"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9733D-C86F-21B2-9007-6B6A53A6A55C}"/>
              </a:ext>
            </a:extLst>
          </p:cNvPr>
          <p:cNvSpPr txBox="1"/>
          <p:nvPr/>
        </p:nvSpPr>
        <p:spPr>
          <a:xfrm>
            <a:off x="11869447" y="6488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3338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D0C8F-2352-98AC-68DD-4100ECF42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88FF5F2-19AE-1F9E-4AF4-B8157F68C6D2}"/>
              </a:ext>
            </a:extLst>
          </p:cNvPr>
          <p:cNvSpPr/>
          <p:nvPr/>
        </p:nvSpPr>
        <p:spPr>
          <a:xfrm>
            <a:off x="0" y="0"/>
            <a:ext cx="627207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924C25-A85E-AEA0-E31D-36E2AA702576}"/>
              </a:ext>
            </a:extLst>
          </p:cNvPr>
          <p:cNvSpPr txBox="1"/>
          <p:nvPr/>
        </p:nvSpPr>
        <p:spPr>
          <a:xfrm>
            <a:off x="86558" y="305068"/>
            <a:ext cx="618551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"Logistic Regression"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log_reg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best_estimator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"Random Forest"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rf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best_estimator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_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"Logistic Regression"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X_test_scaled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y_prob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predict_proba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X_test_scaled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[:,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y_prob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predict_proba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[:,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f1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f1_score(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roc_auc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roc_auc_score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y_prob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=== 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성능 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==="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600" b="0" dirty="0" err="1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 err="1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"Accuracy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:.4f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"F1 Score: 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f1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:.4f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600" b="0" dirty="0" err="1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 err="1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"ROC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 AUC: 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roc_auc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:.4f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classification_report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digits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911607-5815-14B3-1F9A-857A58DFAE27}"/>
              </a:ext>
            </a:extLst>
          </p:cNvPr>
          <p:cNvSpPr txBox="1"/>
          <p:nvPr/>
        </p:nvSpPr>
        <p:spPr>
          <a:xfrm>
            <a:off x="6358630" y="85532"/>
            <a:ext cx="60057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성능 평가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457B9F-52AE-B19B-7683-1621AF7F46ED}"/>
              </a:ext>
            </a:extLst>
          </p:cNvPr>
          <p:cNvSpPr txBox="1"/>
          <p:nvPr/>
        </p:nvSpPr>
        <p:spPr>
          <a:xfrm>
            <a:off x="11869447" y="6488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34DC136-4DD0-CAEC-7197-6885B2C6D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467" y="1027334"/>
            <a:ext cx="3581400" cy="19526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4290BB8-A898-5123-83C7-5BD8A9CCB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467" y="3170592"/>
            <a:ext cx="3581400" cy="1828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6899F0-A635-6F32-79FF-3F3A8DDA89F7}"/>
              </a:ext>
            </a:extLst>
          </p:cNvPr>
          <p:cNvSpPr txBox="1"/>
          <p:nvPr/>
        </p:nvSpPr>
        <p:spPr>
          <a:xfrm>
            <a:off x="6469467" y="5054808"/>
            <a:ext cx="60057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accuracy_score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정확도 확인 코드</a:t>
            </a:r>
            <a:endParaRPr lang="en-US" altLang="ko-KR" dirty="0"/>
          </a:p>
          <a:p>
            <a:r>
              <a:rPr lang="en-US" altLang="ko-KR" dirty="0" err="1"/>
              <a:t>classification_report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분류 보고서 코드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75489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4575B-9D82-9F81-19D0-814D9B230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29A4F3D-8E0E-91E2-18BD-842498B1FBCD}"/>
              </a:ext>
            </a:extLst>
          </p:cNvPr>
          <p:cNvSpPr/>
          <p:nvPr/>
        </p:nvSpPr>
        <p:spPr>
          <a:xfrm>
            <a:off x="0" y="0"/>
            <a:ext cx="627207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9DA214-0EE6-CD5C-5328-589506CA6F93}"/>
              </a:ext>
            </a:extLst>
          </p:cNvPr>
          <p:cNvSpPr txBox="1"/>
          <p:nvPr/>
        </p:nvSpPr>
        <p:spPr>
          <a:xfrm>
            <a:off x="86558" y="305068"/>
            <a:ext cx="618551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"Logistic Regression"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log_reg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best_estimator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"Random Forest"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rf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best_estimator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_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"Logistic Regression"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X_test_scaled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y_prob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predict_proba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X_test_scaled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[:,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y_prob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predict_proba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[:,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f1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f1_score(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roc_auc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roc_auc_score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y_prob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=== 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성능 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==="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600" b="0" dirty="0" err="1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 err="1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"Accuracy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:.4f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"F1 Score: 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f1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:.4f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600" b="0" dirty="0" err="1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 err="1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"ROC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 AUC: 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roc_auc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:.4f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classification_report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digits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6C1883-1EA0-4507-73CF-3A3331F13C0E}"/>
              </a:ext>
            </a:extLst>
          </p:cNvPr>
          <p:cNvSpPr txBox="1"/>
          <p:nvPr/>
        </p:nvSpPr>
        <p:spPr>
          <a:xfrm>
            <a:off x="11869447" y="6488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A7A41-F3A9-ED03-4F59-D714B1C305C9}"/>
              </a:ext>
            </a:extLst>
          </p:cNvPr>
          <p:cNvSpPr txBox="1"/>
          <p:nvPr/>
        </p:nvSpPr>
        <p:spPr>
          <a:xfrm>
            <a:off x="6358630" y="1145310"/>
            <a:ext cx="5937459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Logistic Regression – </a:t>
            </a:r>
            <a:r>
              <a:rPr lang="ko-KR" altLang="en-US" sz="1600" dirty="0"/>
              <a:t>로지스틱 회귀</a:t>
            </a:r>
            <a:endParaRPr lang="en-US" altLang="ko-KR" sz="1600" dirty="0"/>
          </a:p>
          <a:p>
            <a:r>
              <a:rPr lang="en-US" altLang="ko-KR" sz="1600" dirty="0" err="1"/>
              <a:t>Radndom</a:t>
            </a:r>
            <a:r>
              <a:rPr lang="en-US" altLang="ko-KR" sz="1600" dirty="0"/>
              <a:t> Forest – </a:t>
            </a:r>
            <a:r>
              <a:rPr lang="ko-KR" altLang="en-US" sz="1600" dirty="0"/>
              <a:t>랜덤 포레스트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성능 비교 및 평가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- </a:t>
            </a:r>
            <a:r>
              <a:rPr lang="ko-KR" altLang="en-US" sz="1600" dirty="0"/>
              <a:t>둘 다 </a:t>
            </a:r>
            <a:r>
              <a:rPr lang="ko-KR" altLang="en-US" sz="1600" dirty="0" err="1"/>
              <a:t>그리드서치에서</a:t>
            </a:r>
            <a:r>
              <a:rPr lang="ko-KR" altLang="en-US" sz="1600" dirty="0"/>
              <a:t> 찾은 최적의 학습 모델을 사용함</a:t>
            </a:r>
            <a:r>
              <a:rPr lang="en-US" altLang="ko-KR" sz="1600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predict</a:t>
            </a:r>
            <a:r>
              <a:rPr lang="ko-KR" altLang="en-US" sz="1600" dirty="0"/>
              <a:t>로 </a:t>
            </a:r>
            <a:r>
              <a:rPr lang="en-US" altLang="ko-KR" sz="1600" dirty="0"/>
              <a:t>label </a:t>
            </a:r>
            <a:r>
              <a:rPr lang="ko-KR" altLang="en-US" sz="1600" dirty="0"/>
              <a:t>예측</a:t>
            </a:r>
            <a:r>
              <a:rPr lang="en-US" altLang="ko-KR" sz="1600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 err="1"/>
              <a:t>Preidic_proba</a:t>
            </a:r>
            <a:r>
              <a:rPr lang="ko-KR" altLang="en-US" sz="1600" dirty="0"/>
              <a:t>로 확률 계산으로 </a:t>
            </a:r>
            <a:r>
              <a:rPr lang="en-US" altLang="ko-KR" sz="1600" dirty="0"/>
              <a:t>ROC </a:t>
            </a:r>
            <a:r>
              <a:rPr lang="ko-KR" altLang="en-US" sz="1600" dirty="0"/>
              <a:t>그래프 생성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로지스틱 회귀는 불안정하기 때문에 안정화를 위한</a:t>
            </a:r>
            <a:endParaRPr lang="en-US" altLang="ko-KR" sz="1600" dirty="0"/>
          </a:p>
          <a:p>
            <a:r>
              <a:rPr lang="ko-KR" altLang="en-US" sz="1600" dirty="0"/>
              <a:t>스케일링 코드가 필요하나</a:t>
            </a:r>
            <a:r>
              <a:rPr lang="en-US" altLang="ko-KR" sz="1600" dirty="0"/>
              <a:t> </a:t>
            </a:r>
            <a:r>
              <a:rPr lang="ko-KR" altLang="en-US" sz="1600" dirty="0"/>
              <a:t>랜덤 </a:t>
            </a:r>
            <a:r>
              <a:rPr lang="ko-KR" altLang="en-US" sz="1600" dirty="0" err="1"/>
              <a:t>포레스트는</a:t>
            </a:r>
            <a:r>
              <a:rPr lang="ko-KR" altLang="en-US" sz="1600" dirty="0"/>
              <a:t> 스케일링이</a:t>
            </a:r>
            <a:endParaRPr lang="en-US" altLang="ko-KR" sz="1600" dirty="0"/>
          </a:p>
          <a:p>
            <a:r>
              <a:rPr lang="ko-KR" altLang="en-US" sz="1600" dirty="0" err="1"/>
              <a:t>필요없다</a:t>
            </a:r>
            <a:r>
              <a:rPr lang="en-US" altLang="ko-KR" sz="1600" dirty="0"/>
              <a:t>. </a:t>
            </a:r>
            <a:r>
              <a:rPr lang="ko-KR" altLang="en-US" sz="1600" dirty="0"/>
              <a:t>현 코드에서 사용된 </a:t>
            </a:r>
            <a:r>
              <a:rPr lang="en-US" altLang="ko-KR" sz="1600" dirty="0" err="1"/>
              <a:t>StandardScaler</a:t>
            </a:r>
            <a:r>
              <a:rPr lang="en-US" altLang="ko-KR" sz="1600" dirty="0"/>
              <a:t> </a:t>
            </a:r>
            <a:r>
              <a:rPr lang="ko-KR" altLang="en-US" sz="1600" dirty="0"/>
              <a:t>스케일링 코드는</a:t>
            </a:r>
            <a:endParaRPr lang="en-US" altLang="ko-KR" sz="1600" dirty="0"/>
          </a:p>
          <a:p>
            <a:r>
              <a:rPr lang="ko-KR" altLang="en-US" sz="1600" dirty="0"/>
              <a:t>로지스틱 회귀에서만 </a:t>
            </a:r>
            <a:r>
              <a:rPr lang="ko-KR" altLang="en-US" sz="1600" dirty="0" err="1"/>
              <a:t>사용되어있다</a:t>
            </a:r>
            <a:r>
              <a:rPr lang="en-US" altLang="ko-KR" sz="1600" dirty="0"/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11C2F82-3DE3-7C97-483A-587EA53B3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532" y="4600575"/>
            <a:ext cx="5326454" cy="125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957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1D17F-B5DC-424C-F508-33E8B136F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7F4D12A-FE7D-BE63-9DC3-6E410CB27621}"/>
              </a:ext>
            </a:extLst>
          </p:cNvPr>
          <p:cNvSpPr/>
          <p:nvPr/>
        </p:nvSpPr>
        <p:spPr>
          <a:xfrm>
            <a:off x="0" y="0"/>
            <a:ext cx="627207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6CA349-5E3E-8234-4D28-3743AAC3D021}"/>
              </a:ext>
            </a:extLst>
          </p:cNvPr>
          <p:cNvSpPr txBox="1"/>
          <p:nvPr/>
        </p:nvSpPr>
        <p:spPr>
          <a:xfrm>
            <a:off x="43278" y="797510"/>
            <a:ext cx="618551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"Logistic Regression"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y_prob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predict_proba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X_test_scaled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[:,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y_prob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predict_proba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[:,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fpr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tpr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roc_curve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y_prob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auc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roc_auc_score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y_prob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fpr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tpr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altLang="ko-KR" sz="1600" b="0" dirty="0">
                <a:solidFill>
                  <a:srgbClr val="99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 (AUC=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>
                <a:solidFill>
                  <a:srgbClr val="FF9DA4"/>
                </a:solidFill>
                <a:effectLst/>
                <a:latin typeface="Consolas" panose="020B0609020204030204" pitchFamily="49" charset="0"/>
              </a:rPr>
              <a:t>auc</a:t>
            </a:r>
            <a:r>
              <a:rPr lang="en-US" altLang="ko-KR" sz="1600" b="0" dirty="0">
                <a:solidFill>
                  <a:srgbClr val="EBBBFF"/>
                </a:solidFill>
                <a:effectLst/>
                <a:latin typeface="Consolas" panose="020B0609020204030204" pitchFamily="49" charset="0"/>
              </a:rPr>
              <a:t>:.3f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16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],[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600" b="0" dirty="0">
                <a:solidFill>
                  <a:srgbClr val="FFC58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'k--'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"False Positive Rate"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"True Positive Rate"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D1F1A9"/>
                </a:solidFill>
                <a:effectLst/>
                <a:latin typeface="Consolas" panose="020B0609020204030204" pitchFamily="49" charset="0"/>
              </a:rPr>
              <a:t>"ROC Curve: Logistic vs Random Forest"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 err="1">
                <a:solidFill>
                  <a:srgbClr val="FFEEAD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altLang="ko-KR" sz="16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altLang="ko-KR" sz="1600" b="0" dirty="0">
                <a:solidFill>
                  <a:srgbClr val="BBDAFF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ko-KR" sz="16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5F0131-FCED-BAAC-A7E9-F5C49BD225B1}"/>
              </a:ext>
            </a:extLst>
          </p:cNvPr>
          <p:cNvSpPr txBox="1"/>
          <p:nvPr/>
        </p:nvSpPr>
        <p:spPr>
          <a:xfrm>
            <a:off x="6358630" y="85532"/>
            <a:ext cx="60057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ROC </a:t>
            </a:r>
            <a:r>
              <a:rPr lang="ko-KR" altLang="en-US" dirty="0"/>
              <a:t>곡선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68B04A-2B45-EEAC-1219-BAD739A77663}"/>
              </a:ext>
            </a:extLst>
          </p:cNvPr>
          <p:cNvSpPr txBox="1"/>
          <p:nvPr/>
        </p:nvSpPr>
        <p:spPr>
          <a:xfrm>
            <a:off x="11869447" y="64886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1C027D-191E-57EC-D011-64E5BE746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588" y="1008862"/>
            <a:ext cx="5773134" cy="43484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0CAA83-4087-C0FB-74EF-7EC0BE20AEB5}"/>
              </a:ext>
            </a:extLst>
          </p:cNvPr>
          <p:cNvSpPr txBox="1"/>
          <p:nvPr/>
        </p:nvSpPr>
        <p:spPr>
          <a:xfrm>
            <a:off x="6463146" y="5248973"/>
            <a:ext cx="61837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그래프 분석</a:t>
            </a:r>
            <a:endParaRPr lang="en-US" altLang="ko-KR" dirty="0">
              <a:highlight>
                <a:srgbClr val="FFFF00"/>
              </a:highlight>
            </a:endParaRPr>
          </a:p>
          <a:p>
            <a:pPr marL="285750" indent="-285750">
              <a:buFontTx/>
              <a:buChar char="-"/>
            </a:pPr>
            <a:r>
              <a:rPr lang="en-US" altLang="ko-KR" dirty="0"/>
              <a:t>0.7 </a:t>
            </a:r>
            <a:r>
              <a:rPr lang="ko-KR" altLang="en-US" dirty="0"/>
              <a:t>이상만 되어도 좋은 그래프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0.8 </a:t>
            </a:r>
            <a:r>
              <a:rPr lang="ko-KR" altLang="en-US" dirty="0"/>
              <a:t>이상 우뚝 솟아오른 지금의 그래프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성능이 좋다는 걸 알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+  Roc</a:t>
            </a:r>
            <a:r>
              <a:rPr lang="ko-KR" altLang="en-US" dirty="0"/>
              <a:t>그래프로 모델의 전체 능력을 볼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9381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1621</Words>
  <Application>Microsoft Office PowerPoint</Application>
  <PresentationFormat>와이드스크린</PresentationFormat>
  <Paragraphs>254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다경 유</dc:creator>
  <cp:lastModifiedBy>다경 유</cp:lastModifiedBy>
  <cp:revision>6</cp:revision>
  <dcterms:created xsi:type="dcterms:W3CDTF">2025-10-02T00:56:39Z</dcterms:created>
  <dcterms:modified xsi:type="dcterms:W3CDTF">2025-10-02T04:19:22Z</dcterms:modified>
</cp:coreProperties>
</file>